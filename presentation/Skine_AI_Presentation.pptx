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48640"/>
            <a:ext cx="1280160" cy="1280160"/>
          </a:xfrm>
          <a:prstGeom prst="ellipse">
            <a:avLst/>
          </a:prstGeom>
          <a:solidFill>
            <a:srgbClr val="E9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731520"/>
            <a:ext cx="914400" cy="914400"/>
          </a:xfrm>
          <a:prstGeom prst="ellipse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596547"/>
                </a:solidFill>
                <a:latin typeface="Georgia"/>
              </a:defRPr>
            </a:pPr>
            <a:r>
              <a:t>Skiné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AI  SKIN 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27432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An intelligent, privacy-first cosmetic dermatology platform combining</a:t>
            </a:r>
            <a:br/>
            <a:r>
              <a:t>Computer Vision, Colorimetry, and Google Gemini Multimodal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6F"/>
                </a:solidFill>
                <a:latin typeface="Calibri"/>
              </a:defRPr>
            </a:pPr>
            <a:r>
              <a:t>skin-analysis-ai-beta.vercel.app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874520"/>
            <a:ext cx="502920" cy="5029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83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Dermatology visits are expensive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Consultations cost ₹2,000–₹5,000 per visit and are inaccessible in rural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3337560"/>
            <a:ext cx="502920" cy="5029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46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Products are confusing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Consumers waste money buying products with active ingredients unsuited for their skin barrier.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800600"/>
            <a:ext cx="502920" cy="5029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709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2B2B"/>
                </a:solidFill>
                <a:latin typeface="Calibri"/>
              </a:defRPr>
            </a:pPr>
            <a:r>
              <a:t>Generic AI chatbots have no eyes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Standard chatbots cannot see the user's skin and give generic, impersonal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Skiné AI is an AI-powered cosmetic dermatology platform that analyzes facial skin</a:t>
            </a:r>
            <a:br/>
            <a:r>
              <a:t>in seconds using Computer Vision and Generative AI — delivering personalized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2377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926080"/>
            <a:ext cx="640080" cy="6400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Instant Skin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Take a selfie → get a complete</a:t>
            </a:r>
            <a:br/>
            <a:r>
              <a:t>biomarker report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651760"/>
            <a:ext cx="2377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926080"/>
            <a:ext cx="640080" cy="6400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AI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Gemini AI prescribes tailored</a:t>
            </a:r>
            <a:br/>
            <a:r>
              <a:t>ingredients and real products.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2377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926080"/>
            <a:ext cx="640080" cy="6400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Smart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Multimodal assistant that sees</a:t>
            </a:r>
            <a:br/>
            <a:r>
              <a:t>your skin and suggests treatments.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651760"/>
            <a:ext cx="2377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66960" y="2926080"/>
            <a:ext cx="640080" cy="64008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Trend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206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Track skin health over time</a:t>
            </a:r>
            <a:br/>
            <a:r>
              <a:t>with charts and history.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User takes a selfie or</a:t>
            </a:r>
            <a:br/>
            <a:r>
              <a:t>uploads a face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CV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OpenCV extracts skin</a:t>
            </a:r>
            <a:br/>
            <a:r>
              <a:t>biomarkers (6 metrics)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Gemini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AI cross-validates and</a:t>
            </a:r>
            <a:br/>
            <a:r>
              <a:t>enhances biomarker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084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AI Rx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Gemini generates tailored</a:t>
            </a:r>
            <a:br/>
            <a:r>
              <a:t>ingredients &amp;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4108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0508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Interactive dashboard with</a:t>
            </a:r>
            <a:br/>
            <a:r>
              <a:t>scores, routines &amp; charts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B5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1828800"/>
            <a:ext cx="1691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61320" y="2103120"/>
            <a:ext cx="640080" cy="640080"/>
          </a:xfrm>
          <a:prstGeom prst="ellipse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5328" y="2176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56616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Ongoing multimodal</a:t>
            </a:r>
            <a:br/>
            <a:r>
              <a:t>consultation with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Computer Vision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2860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Illumination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Gray-World White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830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Neutralizes room lighting (warm/cool) so biomarkers</a:t>
            </a:r>
            <a:br/>
            <a:r>
              <a:t>are accurate regardless of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01752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Skin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YCrCb + HSV Dual Mask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Isolates living skin tissue from background,</a:t>
            </a:r>
            <a:br/>
            <a:r>
              <a:t>hair, clothing, and eyes using color-space masks.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20624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ROI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Forehead · Cheeks · T-Zone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160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Precisely extracts facial sub-regions for</a:t>
            </a:r>
            <a:br/>
            <a:r>
              <a:t>zone-specific biomarker scoring.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12080"/>
            <a:ext cx="10058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5394960"/>
            <a:ext cx="548640" cy="54864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B2B"/>
                </a:solidFill>
                <a:latin typeface="Calibri"/>
              </a:defRPr>
            </a:pPr>
            <a:r>
              <a:t>Biomarker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B57"/>
                </a:solidFill>
                <a:latin typeface="Calibri"/>
              </a:defRPr>
            </a:pPr>
            <a:r>
              <a:t>Mathematical Pixel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349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Computes Oiliness, Dryness, Redness, Texture,</a:t>
            </a:r>
            <a:br/>
            <a:r>
              <a:t>and Pigmentation using spectral algorithms.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755648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739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Flask Jinja2 · Bootstrap 5 · Custom CSS 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50592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560320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786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8775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Python 3 · Flask · Werkzeug · Flask-CORS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55264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364992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92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OpenCV (cv2) · NumPy · Color Space 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59936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169664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18795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9709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Google Gemini 3.5 Flash / Flash-Lite (Vision + Text)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64608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974336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926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017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PostgreSQL (Supabase) in Production · SQLite Locally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669280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7280" y="5779008"/>
            <a:ext cx="2194560" cy="438912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79729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Hosting &amp; 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8064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B2B"/>
                </a:solidFill>
                <a:latin typeface="Calibri"/>
              </a:defRPr>
            </a:pPr>
            <a:r>
              <a:t>Vercel Serverless · GitHub Auto-Deploy on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External Tools &amp; Where They're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27432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515600" cy="457200"/>
          </a:xfrm>
          <a:prstGeom prst="round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550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 /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55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5506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Where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5156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037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Google Gemini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037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Multimodal Vision + Text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0370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· recommendations.py · app.py (chat)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79192"/>
            <a:ext cx="10515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OpenCV (cv2)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34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Image processing &amp; face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3405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 (CV pipeline, Haar cascades)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9544"/>
            <a:ext cx="105156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64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64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Mathematical pixel-level computations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644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skin_analysis.py  (biomarker scoring algorithms)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39895"/>
            <a:ext cx="10515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7947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Cloud database with SSL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79475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db.py  (production data persistence)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70248"/>
            <a:ext cx="105156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25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Vercel 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325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Hosting &amp; edge CDN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325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vercel.json  (auto-deploy on git push)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00600"/>
            <a:ext cx="10515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554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Daraz Nepal API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855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Product purchasing URLs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8554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recommendations.py  (AI-generated buy links)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30951"/>
            <a:ext cx="105156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8581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3858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Interactive biomarker radar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385815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result.html · dashboard.html  (frontend charts)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861303"/>
            <a:ext cx="10515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91616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B2B2B"/>
                </a:solidFill>
                <a:latin typeface="Calibri"/>
              </a:defRPr>
            </a:pPr>
            <a:r>
              <a:t>Bootstrap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91616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Responsive UI grid &amp; components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916167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96547"/>
                </a:solidFill>
                <a:latin typeface="Calibri"/>
              </a:defRPr>
            </a:pPr>
            <a:r>
              <a:t>All templates  (base.html, result.html, etc.)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6547"/>
                </a:solidFill>
                <a:latin typeface="Calibri"/>
              </a:defRPr>
            </a:pPr>
            <a:r>
              <a:t>Clinical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6-Biomarker Skin Health Analysis (Oiliness, Dryness, Texture, Redness, Pigmentation, Overall Score)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AI-Generated Active Ingredients with Clinical Justifications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Real Product Recommendations with Buy Links (Daraz Nepal)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Morning &amp; Night Skincare Routine Prescriptions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Multimodal AI Chatbot — Paste a Product Image for Ingredient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6547"/>
                </a:solidFill>
                <a:latin typeface="Calibri"/>
              </a:defRPr>
            </a:pPr>
            <a:r>
              <a:t>Engineering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Multi-Angle Face Detection — Works Even Lying Down or Tilted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Skin Health Trend Dashboard with History &amp; Charts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Gray-World Color Constancy for Any Lighting Condition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Secure Auth with PBKDF2 Hashing &amp; Session Management</a:t>
            </a:r>
          </a:p>
          <a:p>
            <a:pPr>
              <a:spcAft>
                <a:spcPts val="800"/>
              </a:spcAft>
              <a:defRPr sz="1250">
                <a:solidFill>
                  <a:srgbClr val="2B2B2B"/>
                </a:solidFill>
                <a:latin typeface="Calibri"/>
              </a:defRPr>
            </a:pPr>
            <a:r>
              <a:t>●  Dual-Engine Architecture — Rule-Based Fallback if AI is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45920"/>
            <a:ext cx="19050" cy="4206240"/>
          </a:xfrm>
          <a:prstGeom prst="rect">
            <a:avLst/>
          </a:prstGeom>
          <a:solidFill>
            <a:srgbClr val="E9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96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96547"/>
                </a:solidFill>
                <a:latin typeface="Georgia"/>
              </a:defRPr>
            </a:pPr>
            <a: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1905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2148840"/>
            <a:ext cx="731520" cy="7315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B2B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PBKDF2 SHA-256 with 50,000 salt iterations.</a:t>
            </a:r>
            <a:br/>
            <a:r>
              <a:t>Passwords are never stored in plain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148840"/>
            <a:ext cx="731520" cy="7315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B2B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Session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611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HttpOnly cookies with SameSite=Lax policy</a:t>
            </a:r>
            <a:br/>
            <a:r>
              <a:t>and secret key encryption.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148840"/>
            <a:ext cx="731520" cy="7315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B2B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Photo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11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Images processed in secure memory for</a:t>
            </a:r>
            <a:br/>
            <a:r>
              <a:t>feature extraction — never shared or sold.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2148840"/>
            <a:ext cx="731520" cy="73152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194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B2B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2B2B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611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6666"/>
                </a:solidFill>
                <a:latin typeface="Calibri"/>
              </a:defRPr>
            </a:pPr>
            <a:r>
              <a:t>Rolling 24-hour quota of 350 messages</a:t>
            </a:r>
            <a:br/>
            <a:r>
              <a:t>per account to prevent API abuse.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0"/>
            <a:ext cx="1828800" cy="182880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029200"/>
            <a:ext cx="1371600" cy="1371600"/>
          </a:xfrm>
          <a:prstGeom prst="ellipse">
            <a:avLst/>
          </a:prstGeom>
          <a:solidFill>
            <a:srgbClr val="70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Georgia"/>
              </a:defRPr>
            </a:pPr>
            <a:r>
              <a:t>Skiné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5EF"/>
                </a:solidFill>
                <a:latin typeface="Calibri"/>
              </a:defRPr>
            </a:pPr>
            <a:r>
              <a:t>AI  SKIN 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286000" cy="19050"/>
          </a:xfrm>
          <a:prstGeom prst="rect">
            <a:avLst/>
          </a:prstGeom>
          <a:solidFill>
            <a:srgbClr val="8B9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5EF"/>
                </a:solidFill>
                <a:latin typeface="Calibri"/>
              </a:defRPr>
            </a:pPr>
            <a:r>
              <a:t>Thank you for your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6F"/>
                </a:solidFill>
                <a:latin typeface="Calibri"/>
              </a:defRPr>
            </a:pPr>
            <a:r>
              <a:t>skin-analysis-ai-beta.vercel.app</a:t>
            </a:r>
            <a:br/>
            <a:r>
              <a:t>@_skine05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56F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