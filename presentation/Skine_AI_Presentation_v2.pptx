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57200"/>
            <a:ext cx="1463040" cy="1463040"/>
          </a:xfrm>
          <a:prstGeom prst="ellipse">
            <a:avLst/>
          </a:prstGeom>
          <a:solidFill>
            <a:srgbClr val="E9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731520"/>
            <a:ext cx="914400" cy="914400"/>
          </a:xfrm>
          <a:prstGeom prst="ellipse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9418320" y="5303520"/>
            <a:ext cx="640080" cy="640080"/>
          </a:xfrm>
          <a:prstGeom prst="diamond">
            <a:avLst/>
          </a:prstGeom>
          <a:solidFill>
            <a:srgbClr val="D5D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D5D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596547"/>
                </a:solidFill>
                <a:latin typeface="Georgia"/>
              </a:defRPr>
            </a:pPr>
            <a:r>
              <a:t>Skiné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AI  SKIN 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474720"/>
            <a:ext cx="27432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An intelligent, privacy-first cosmetic dermatology platform combining</a:t>
            </a:r>
            <a:br/>
            <a:r>
              <a:t>Computer Vision, Colorimetry, and Google Gemini Multimodal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6F"/>
                </a:solidFill>
                <a:latin typeface="Calibri"/>
              </a:defRPr>
            </a:pPr>
            <a:r>
              <a:t>skin-analysis-ai-beta.vercel.app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057400"/>
            <a:ext cx="548640" cy="54864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65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2B2B"/>
                </a:solidFill>
                <a:latin typeface="Calibri"/>
              </a:defRPr>
            </a:pPr>
            <a:r>
              <a:t>Dermatology visits are expensive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77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Consultations cost ₹2,000–₹5,000 per visit and are inaccessible in rural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3520440"/>
            <a:ext cx="548640" cy="54864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566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29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2B2B"/>
                </a:solidFill>
                <a:latin typeface="Calibri"/>
              </a:defRPr>
            </a:pPr>
            <a:r>
              <a:t>Skincare products are confusing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Consumers waste money on products with active ingredients unsuited for their skin barrier.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983480"/>
            <a:ext cx="548640" cy="54864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029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92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2B2B"/>
                </a:solidFill>
                <a:latin typeface="Calibri"/>
              </a:defRPr>
            </a:pPr>
            <a:r>
              <a:t>Generic AI chatbots have no eyes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03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Standard chatbots cannot see the user's skin and give generic, impersonal 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Skiné AI analyzes facial skin in seconds using Computer Vision and Generative AI — delivering personalized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2651760"/>
            <a:ext cx="640080" cy="64008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2788920"/>
            <a:ext cx="365760" cy="36576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2B2B"/>
                </a:solidFill>
                <a:latin typeface="Calibri"/>
              </a:defRPr>
            </a:pPr>
            <a:r>
              <a:t>Instant Skin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66666"/>
                </a:solidFill>
                <a:latin typeface="Calibri"/>
              </a:defRPr>
            </a:pPr>
            <a:r>
              <a:t>Take a selfie to get a</a:t>
            </a:r>
            <a:br/>
            <a:r>
              <a:t>complete biomarker</a:t>
            </a:r>
            <a:br/>
            <a:r>
              <a:t>report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37744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651760"/>
            <a:ext cx="640080" cy="6400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788920"/>
            <a:ext cx="365760" cy="36576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2B2B"/>
                </a:solidFill>
                <a:latin typeface="Calibri"/>
              </a:defRPr>
            </a:pPr>
            <a:r>
              <a:t>AI Rx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023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66666"/>
                </a:solidFill>
                <a:latin typeface="Calibri"/>
              </a:defRPr>
            </a:pPr>
            <a:r>
              <a:t>Gemini AI prescribes</a:t>
            </a:r>
            <a:br/>
            <a:r>
              <a:t>tailored ingredients and</a:t>
            </a:r>
            <a:br/>
            <a:r>
              <a:t>real products.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7315200" y="2651760"/>
            <a:ext cx="640080" cy="640080"/>
          </a:xfrm>
          <a:prstGeom prst="hexag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52360" y="2788920"/>
            <a:ext cx="365760" cy="36576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2B2B"/>
                </a:solidFill>
                <a:latin typeface="Calibri"/>
              </a:defRPr>
            </a:pPr>
            <a:r>
              <a:t>Smart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23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66666"/>
                </a:solidFill>
                <a:latin typeface="Calibri"/>
              </a:defRPr>
            </a:pPr>
            <a:r>
              <a:t>Multimodal assistant</a:t>
            </a:r>
            <a:br/>
            <a:r>
              <a:t>that sees your skin and</a:t>
            </a:r>
            <a:br/>
            <a:r>
              <a:t>suggests treatments.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37744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49840" y="2651760"/>
            <a:ext cx="640080" cy="6400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000" y="2788920"/>
            <a:ext cx="365760" cy="36576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2B2B"/>
                </a:solidFill>
                <a:latin typeface="Calibri"/>
              </a:defRPr>
            </a:pPr>
            <a:r>
              <a:t>Trend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023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66666"/>
                </a:solidFill>
                <a:latin typeface="Calibri"/>
              </a:defRPr>
            </a:pPr>
            <a:r>
              <a:t>Track skin health</a:t>
            </a:r>
            <a:br/>
            <a:r>
              <a:t>over time with charts</a:t>
            </a:r>
            <a:br/>
            <a:r>
              <a:t>and scan history.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Application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737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118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User takes a selfie</a:t>
            </a:r>
            <a:br/>
            <a:r>
              <a:t>or uploads a face photo</a:t>
            </a:r>
          </a:p>
        </p:txBody>
      </p:sp>
      <p:sp>
        <p:nvSpPr>
          <p:cNvPr id="10" name="Chevron 9"/>
          <p:cNvSpPr/>
          <p:nvPr/>
        </p:nvSpPr>
        <p:spPr>
          <a:xfrm>
            <a:off x="2121408" y="3474720"/>
            <a:ext cx="201168" cy="320040"/>
          </a:xfrm>
          <a:prstGeom prst="chevr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04288" y="1828800"/>
            <a:ext cx="1737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07208" y="2103120"/>
            <a:ext cx="685800" cy="68580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CV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36118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OpenCV extracts skin</a:t>
            </a:r>
            <a:br/>
            <a:r>
              <a:t>biomarkers (6 metrics)</a:t>
            </a:r>
          </a:p>
        </p:txBody>
      </p:sp>
      <p:sp>
        <p:nvSpPr>
          <p:cNvPr id="16" name="Chevron 15"/>
          <p:cNvSpPr/>
          <p:nvPr/>
        </p:nvSpPr>
        <p:spPr>
          <a:xfrm>
            <a:off x="4059936" y="3474720"/>
            <a:ext cx="201168" cy="320040"/>
          </a:xfrm>
          <a:prstGeom prst="chevr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42816" y="1828800"/>
            <a:ext cx="1737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45736" y="2103120"/>
            <a:ext cx="685800" cy="68580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Gemini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36118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AI cross-validates and</a:t>
            </a:r>
            <a:br/>
            <a:r>
              <a:t>enhances biomarker data</a:t>
            </a:r>
          </a:p>
        </p:txBody>
      </p:sp>
      <p:sp>
        <p:nvSpPr>
          <p:cNvPr id="22" name="Chevron 21"/>
          <p:cNvSpPr/>
          <p:nvPr/>
        </p:nvSpPr>
        <p:spPr>
          <a:xfrm>
            <a:off x="5998464" y="3474720"/>
            <a:ext cx="201168" cy="320040"/>
          </a:xfrm>
          <a:prstGeom prst="chevr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1828800"/>
            <a:ext cx="1737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84264" y="2103120"/>
            <a:ext cx="685800" cy="68580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AI Rx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36118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Gemini generates tailored</a:t>
            </a:r>
            <a:br/>
            <a:r>
              <a:t>ingredients &amp; products</a:t>
            </a:r>
          </a:p>
        </p:txBody>
      </p:sp>
      <p:sp>
        <p:nvSpPr>
          <p:cNvPr id="28" name="Chevron 27"/>
          <p:cNvSpPr/>
          <p:nvPr/>
        </p:nvSpPr>
        <p:spPr>
          <a:xfrm>
            <a:off x="7936992" y="3474720"/>
            <a:ext cx="201168" cy="320040"/>
          </a:xfrm>
          <a:prstGeom prst="chevr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9872" y="1828800"/>
            <a:ext cx="1737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22792" y="2103120"/>
            <a:ext cx="685800" cy="68580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36118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Interactive dashboard with</a:t>
            </a:r>
            <a:br/>
            <a:r>
              <a:t>scores, routines &amp; charts</a:t>
            </a:r>
          </a:p>
        </p:txBody>
      </p:sp>
      <p:sp>
        <p:nvSpPr>
          <p:cNvPr id="34" name="Chevron 33"/>
          <p:cNvSpPr/>
          <p:nvPr/>
        </p:nvSpPr>
        <p:spPr>
          <a:xfrm>
            <a:off x="9875520" y="3474720"/>
            <a:ext cx="201168" cy="320040"/>
          </a:xfrm>
          <a:prstGeom prst="chevr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58400" y="1828800"/>
            <a:ext cx="1737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61320" y="2103120"/>
            <a:ext cx="685800" cy="68580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25328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6118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Ongoing multimodal</a:t>
            </a:r>
            <a:br/>
            <a:r>
              <a:t>consultation with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Computer Vision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4-stage biomarker extraction engine powering every facial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Illumination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Gray-World White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848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Neutralizes room lighting (warm/cool) so biomarkers are accurate regardless of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6324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324612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Skin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YCrCb + HSV Dual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278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Isolates living skin tissue from background, hair, clothing, and eyes using color-space masks.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0624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38912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ROI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Forehead · Cheeks · T-Zone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3708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Precisely extracts facial sub-regions for zone-specific biomarker scoring.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34924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553212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Biomarker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Mathematical Pixel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5138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Computes Oiliness, Dryness, Redness, Texture, and Pigmentation using spectral algorithms.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755648"/>
            <a:ext cx="228600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739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Flask Jinja2 · Bootstrap 5 · Custom CSS Design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50592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560320"/>
            <a:ext cx="228600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786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8775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Python 3 · Flask · Werkzeug · Flask-CORS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55264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364992"/>
            <a:ext cx="228600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8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92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OpenCV (cv2) · NumPy · Color Space Algorithms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59936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169664"/>
            <a:ext cx="228600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879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19709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Google Gemini 3.5 Flash / Flash-Lite (Vision + Text)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64608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974336"/>
            <a:ext cx="228600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926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017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PostgreSQL (Supabase) in Production · SQLite Locally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669280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7280" y="5779008"/>
            <a:ext cx="228600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7972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Hosting &amp; 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80644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Vercel Serverless · GitHub Auto-Deploy on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External Tools &amp; Where They're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 /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00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007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Where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5156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Google Gemini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494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Multimodal Vision + Text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942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skin_analysis.py · recommendations.py · app.py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06624"/>
            <a:ext cx="10515600" cy="420624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614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OpenCV (cv2)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Image processing &amp; face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6148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skin_analysis.py  (CV pipeline, Haar cascades)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18688"/>
            <a:ext cx="105156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735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Mathematical pixel-level computations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7355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skin_analysis.py  (biomarker scoring)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30752"/>
            <a:ext cx="10515600" cy="420624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856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Supabase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7856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Cloud database with SSL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78561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db.py  (production data persistence)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42816"/>
            <a:ext cx="105156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976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Vercel Serverless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2976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Hosting &amp; edge CDN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2976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vercel.json  (auto-deploy on git push)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10515600" cy="420624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0974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Daraz Nepal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8097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Product purchasing URLs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80974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recommendations.py  (AI-generated buy links)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66944"/>
            <a:ext cx="105156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218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3218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Interactive biomarker radar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32180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result.html · dashboard.html  (frontend)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779008"/>
            <a:ext cx="10515600" cy="420624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83387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Bootstrap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833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Responsive UI grid &amp; components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8338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All templates  (base.html, result.html, etc.)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Web App Pages — Home &amp;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463040" cy="41148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Home Page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1874519"/>
            <a:ext cx="320040" cy="320040"/>
          </a:xfrm>
          <a:prstGeom prst="ellipse">
            <a:avLst/>
          </a:prstGeom>
          <a:solidFill>
            <a:srgbClr val="D5D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Hero section with adaptive CTA buttons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"Let's Start" (logged out) vs "Start AI Scan" (logged in)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Feature showcase: 6 clinical biomarker highlights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Clean SVG vector icons — medical-grade visual standard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Responsive layout — mobile and desktop ready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Earthy cream/olive brand identity throughout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1828800" cy="41148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Scanner Page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0" y="1874519"/>
            <a:ext cx="320040" cy="320040"/>
          </a:xfrm>
          <a:prstGeom prst="ellipse">
            <a:avLst/>
          </a:prstGeom>
          <a:solidFill>
            <a:srgbClr val="D5D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Live webcam video feed with face-frame guide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Auto-capture or manual shutter button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Multi-angle face detection (tilted, lying down)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Real-time AI Diagnostic Parameter display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6 biomarker sensors shown during scan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Instant processing → redirects to Result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Web App Pages — Skin Analysis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result page delivers a comprehensive, clinical-grade diagnostic report after each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Skin Health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Percentage-based overall score</a:t>
            </a:r>
            <a:br/>
            <a:r>
              <a:t>with color-coded badge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2240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Biomarker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88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Interactive Chart.js radar chart</a:t>
            </a:r>
            <a:br/>
            <a:r>
              <a:t>for all 6 biomarkers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240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Active Ingredients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AI-prescribed ingredients with</a:t>
            </a:r>
            <a:br/>
            <a:r>
              <a:t>clinical justifications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60" y="2240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Product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788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Real products with buy links,</a:t>
            </a:r>
            <a:br/>
            <a:r>
              <a:t>hybrid image resolver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526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572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Morning Routine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Step-by-step AM skincare</a:t>
            </a:r>
            <a:br/>
            <a:r>
              <a:t>routine with checkboxes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11880" y="4526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4572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Night Routine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074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Step-by-step PM skincare</a:t>
            </a:r>
            <a:br/>
            <a:r>
              <a:t>routine with checkboxes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4526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572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Things to Avoid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74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Ingredients and triggers</a:t>
            </a:r>
            <a:br/>
            <a:r>
              <a:t>that harm this skin type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81160" y="4526280"/>
            <a:ext cx="411480" cy="41148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4572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2B2B"/>
                </a:solidFill>
                <a:latin typeface="Calibri"/>
              </a:defRPr>
            </a:pPr>
            <a:r>
              <a:t>Lifestyle Tips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0749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66666"/>
                </a:solidFill>
                <a:latin typeface="Calibri"/>
              </a:defRPr>
            </a:pPr>
            <a:r>
              <a:t>Personalized habits and</a:t>
            </a:r>
            <a:br/>
            <a:r>
              <a:t>dietary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Web App Pages — Dashboard &amp;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011680" cy="41148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Overview cards: Last Scan Date, Total Scans, Skin Type, Health Score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Current Skin Characteristics — 6 biomarker level badges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Skin Health Trend Chart — line graph tracking score over time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Biomarker Radar Chart — visual comparison of all metrics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Daily Routine Checklist — interactive AM/PM step tracker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AI-Powered Recommended Ingredients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828800" cy="41148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History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Chronological list of all past facial scans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Each entry shows: Date, Skin Type, Health Score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Click any scan to view full diagnostic report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Visual score badges (color-coded by severity)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Compare multiple scans side-by-side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Powered by PostgreSQL / Supabase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Web App Pages — AI Chatbot &amp;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011680" cy="41148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Skiné AI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Multimodal AI — paste or upload product images (Ctrl+V)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Context-aware: knows your biomarkers before you ask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Suggests Nepal-accessible products (Daraz, Jeevee links)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Ingredient analysis: flags comedogenic / irritating items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Resizable + maximizable floating chat panel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350 messages/day rate limit per 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286000" cy="41148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Feedback &amp;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Star rating system (1–5 stars)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Category selector (General, Bug Report, Feature, etc.)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Free-text review message field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Community reviews displayed publicly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Admin dashboard for managing feedback</a:t>
            </a:r>
          </a:p>
          <a:p>
            <a:pPr>
              <a:spcAft>
                <a:spcPts val="8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●  Stored in PostgreSQL with timestamps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96547"/>
                </a:solidFill>
                <a:latin typeface="Calibri"/>
              </a:defRPr>
            </a:pPr>
            <a:r>
              <a:t>Clinical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6-Biomarker Skin Health Analysis (Oiliness, Dryness, Texture, Redness, Pigmentation, Score)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AI-Generated Active Ingredients with Clinical Justifications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Real Product Recommendations with Daraz Nepal Buy Links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Morning &amp; Night Skincare Routine Prescriptions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Multimodal AI Chatbot — Paste a Product Image for Ingredient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96547"/>
                </a:solidFill>
                <a:latin typeface="Calibri"/>
              </a:defRPr>
            </a:pPr>
            <a:r>
              <a:t>Engineering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Multi-Angle Face Detection — Works Even Lying Down or Tilted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Skin Health Trend Dashboard with History &amp; Charts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Gray-World Color Constancy for Any Lighting Condition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Secure Auth with PBKDF2 Hashing &amp; Session Management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Dual-Engine Architecture — Rule-Based Fallback if AI is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645920"/>
            <a:ext cx="19050" cy="4389120"/>
          </a:xfrm>
          <a:prstGeom prst="rect">
            <a:avLst/>
          </a:prstGeom>
          <a:solidFill>
            <a:srgbClr val="E9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Security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2148840"/>
            <a:ext cx="822960" cy="822960"/>
          </a:xfrm>
          <a:prstGeom prst="round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7632" y="2331720"/>
            <a:ext cx="502920" cy="50292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PBKDF2 SHA-256 with 50,000</a:t>
            </a:r>
            <a:br/>
            <a:r>
              <a:t>salt iterations. Never plain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4343400" y="2148840"/>
            <a:ext cx="822960" cy="822960"/>
          </a:xfrm>
          <a:prstGeom prst="homePlat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7992" y="2331720"/>
            <a:ext cx="502920" cy="50292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Session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4903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HttpOnly cookies with</a:t>
            </a:r>
            <a:br/>
            <a:r>
              <a:t>SameSite=Lax &amp; encryption.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2148840"/>
            <a:ext cx="822960" cy="82296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88352" y="2331720"/>
            <a:ext cx="502920" cy="50292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Photo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4903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Images processed in secure</a:t>
            </a:r>
            <a:br/>
            <a:r>
              <a:t>memory — never shared or sold.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8288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10104120" y="2148840"/>
            <a:ext cx="822960" cy="822960"/>
          </a:xfrm>
          <a:prstGeom prst="hexagon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68712" y="2331720"/>
            <a:ext cx="502920" cy="50292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4903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Rolling 24-hour quota of 350</a:t>
            </a:r>
            <a:br/>
            <a:r>
              <a:t>messages per account.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731520"/>
            <a:ext cx="2011680" cy="201168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754880"/>
            <a:ext cx="1645920" cy="16459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789920" y="5029200"/>
            <a:ext cx="731520" cy="731520"/>
          </a:xfrm>
          <a:prstGeom prst="diamond">
            <a:avLst/>
          </a:prstGeom>
          <a:solidFill>
            <a:srgbClr val="8B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0" b="1">
                <a:solidFill>
                  <a:srgbClr val="FFFFFF"/>
                </a:solidFill>
                <a:latin typeface="Georgia"/>
              </a:defRPr>
            </a:pPr>
            <a:r>
              <a:t>Skiné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5EF"/>
                </a:solidFill>
                <a:latin typeface="Calibri"/>
              </a:defRPr>
            </a:pPr>
            <a:r>
              <a:t>AI  SKIN 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2286000" cy="19050"/>
          </a:xfrm>
          <a:prstGeom prst="rect">
            <a:avLst/>
          </a:prstGeom>
          <a:solidFill>
            <a:srgbClr val="8B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5EF"/>
                </a:solidFill>
                <a:latin typeface="Calibri"/>
              </a:defRPr>
            </a:pPr>
            <a:r>
              <a:t>Thank you for your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6F"/>
                </a:solidFill>
                <a:latin typeface="Calibri"/>
              </a:defRPr>
            </a:pPr>
            <a:r>
              <a:t>skin-analysis-ai-beta.vercel.app</a:t>
            </a:r>
            <a:br/>
            <a:r>
              <a:t>@_skine05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56F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